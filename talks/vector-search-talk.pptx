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Sixty minutes, four techniques. Everything I claim today, I measured — there's a notebook and every number comes out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Embeddings turn anything into a list of numbers, and similar things land near each other. So 'find me things like this' becomes a geometry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techniques, in the order they were invented. Each one exists because of a problem with the one before it. That's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problem carries the whole talk so every technique is scored on the same task. Swap in whatever your team works on — the numbers barely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thing nobody tells you up front: normalize once at write time and all three metrics rank identically. Then stop thinking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start with the dumbest thing that works, because it's better than you think.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is a complete, production-viable search engine. One matrix-vector product, one partial sort. If your team is standing up a vector DB for 50k rows, this slide is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values, and the second is the one people forget. It's your ruler: every approximate method gets measured against it,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[Pause — this is deliberately anticlimactic.] Which is completely fine. At 200,000 vectors you do not need any of the next fifty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where it breaks. The cost is exactly linear — ten times the tickets, ten times the bill. And you blew the 50ms p99 somewhere around two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obvious question: isn't this solved? kd-trees work in 2-3 dimensions and are useless at 256. There is no exact escape hatch — that's why this field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 give up is being exactly right, and we give up surprisingly little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Recall@k is the whole definition. You asked for ten, you got nine right ones, recall@10 is 0.9. You compute it by diffing against exact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objection you should get. The answer: your embeddings were already approximate. But name the exception honestly — dedup is a different regime.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from here is one of three ideas. The first two combine, which is why IVF-PQ is one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has a compound name because it is literally two ideas. I'll teach them separately, measure each alone, then combine.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library analogy. You don't scan every book in the building — you walk to the right few shelves and scan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things to point at. One row here is a product decision. And recall climbs fast then flattens, while cost keeps climbing linearly and never flattens.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Almost all of the value is in the first few probes. 1→4 buys 37 points of recall. 64→512 buys zero and costs 3.2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IVF's whole failure mode, and I love it because it's specific and predictable. Errors you can explain are errors you can debug.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things. And hold the memory one — it's the setup for PQ in ninety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palette analogy: instead of storing every pixel's exact colour, store an index into a 256-colour palette.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it is. Ticket zero used to be 256 floats. It is now literally these 32 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deployment value, not a latency value. Three arguments live in this table and they get better as you go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and don't panic — they look alarming on purpose. At 32x compression the reconstruction error is comparable to the gap between the true #1 and the true #40.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[Slow down. This is the best idea in the talk.] The natural assumption is that compressed data must be decompressed. PQ never does. Not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Right on average, noisy in the details. The scatter around the line IS the recall loss — and the top-10 live in the bottom-left corner, where the noise hurts.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put them together. IVF picks the buckets, PQ makes scanning them cheap. It's fast, it's tiny, and its recall is 0.485 — useless.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Retrieve top-100 by cheap PQ distance. Load those 100 full vectors. Rescore exactly. A hundred exact distance computations is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this room takes home one implementation detail, make it this one. It is routinely missing from hand-rolled vector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cost of your own fix — that's what makes the rest of your numbers believable. Reranking needs the vectors you just compressed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Completely different philosophy. Terrible name, beautiful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travel analogy. You don't consult a street map of the whole country. Flight, train, walk. Long hops first, short hops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search, in one breath. Greedily walk to whichever neighbour is closer. When none improves, drop a layer. At layer 0 keep a candidate list of size efSearch.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right to left, the way a search runs. Five nodes span the whole space up top; layer 0 has all 500. That's the flight, the train, and the walk.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index, same box, no rebuild — a per-request parameter. Most teams treat this as a config-file setting. It isn't.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the latency at one size — the SHAPE of the curve as you grow. That's the whole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places, and they're serious. Memory is the headline — and it's your one-sentence comparison for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put all of it on one scoreboard.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memory column and the recall column together. The bottom two rows are the same speed and nearly the same quality — and one uses 36x less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standard chart, built from our numbers. Up and to the right wins. Every technique in this talk was a way to push a point up and to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straight down. And the one I'd lead with in a design review: if you're already on Postgres, pgvector gives you HNSW in the database you already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minutes on the thing that will actually bite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queries are never just a vector. Let's break it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is a broken product feature, not a tuning problem. The fix is to push the predicate INTO the search so the index keeps walking until it has enough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techniques. Three things I'd like you to actually leave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notebook is the deliverable. Every number here comes out of it.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DA3FF"/>
                </a:solidFill>
                <a:latin typeface="Arial"/>
              </a:rPr>
              <a:t>VECTOR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E8EDF5"/>
                </a:solidFill>
                <a:latin typeface="Arial"/>
              </a:rPr>
              <a:t>From brute force to HNSW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657600"/>
            <a:ext cx="2377440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93A1B5"/>
                </a:solidFill>
                <a:latin typeface="Arial"/>
              </a:rPr>
              <a:t>kNN  ·  ANN  ·  IVF-PQ  ·  HNSW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B6678"/>
                </a:solidFill>
                <a:latin typeface="Arial"/>
              </a:rPr>
              <a:t>Every number in this deck is measured, not estimated.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B6678"/>
                </a:solidFill>
                <a:latin typeface="Arial"/>
              </a:rPr>
              <a:t>Companion notebook: notebooks/talk-vector-search.ipynb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Everything is a vector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8988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221991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2103120"/>
            <a:ext cx="102595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A document, an image, a user, a support ticket → a list of 256–1536 numbers.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62072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743200"/>
            <a:ext cx="102595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Similar things land near each other in that space.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90188"/>
            <a:ext cx="118872" cy="118872"/>
          </a:xfrm>
          <a:prstGeom prst="ellipse">
            <a:avLst/>
          </a:prstGeom>
          <a:solidFill>
            <a:srgbClr val="93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671316"/>
            <a:ext cx="102595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3A1B5"/>
                </a:solidFill>
                <a:latin typeface="Arial"/>
              </a:rPr>
              <a:t>So "find me things like this" stops being a text problem…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430268"/>
            <a:ext cx="118872" cy="118872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311396"/>
            <a:ext cx="102595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ADE80"/>
                </a:solidFill>
                <a:latin typeface="Arial"/>
              </a:rPr>
              <a:t>…and becomes a geometry problem: given a query vector, find the closest vectors.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Four techniques. That's the whole talk.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8988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10607040" cy="86868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76856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4DA3FF"/>
                </a:solidFill>
                <a:latin typeface="Arial"/>
              </a:rPr>
              <a:t>1.  kNN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313432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Exact search. Correct, simple, stops scaling.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81528"/>
            <a:ext cx="10607040" cy="86868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0098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4DA3FF"/>
                </a:solidFill>
                <a:latin typeface="Arial"/>
              </a:rPr>
              <a:t>2.  ANN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33756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Trade a little correctness for a lot of speed.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105656"/>
            <a:ext cx="10607040" cy="86868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2511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4DA3FF"/>
                </a:solidFill>
                <a:latin typeface="Arial"/>
              </a:rPr>
              <a:t>3.  IVF-PQ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36168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Partition the space, then compress what's in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129784"/>
            <a:ext cx="10607040" cy="86868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3492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4DA3FF"/>
                </a:solidFill>
                <a:latin typeface="Arial"/>
              </a:rPr>
              <a:t>4.  HNSW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38581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Build a graph and walk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636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93A1B5"/>
                </a:solidFill>
                <a:latin typeface="Arial"/>
              </a:rPr>
              <a:t>Each one exists because of a problem with the one before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THE RUNNING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One problem carries the whole talk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196596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B454"/>
                </a:solidFill>
                <a:latin typeface="Arial"/>
              </a:rPr>
              <a:t>SupportBot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200,000 past support tickets. A new ticket arrives — surface the most similar</a:t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past tickets so the agent can reuse the resolution.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69080"/>
            <a:ext cx="2514600" cy="123444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702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3A1B5"/>
                </a:solidFill>
                <a:latin typeface="Arial"/>
              </a:rPr>
              <a:t>VECTORS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9943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Arial"/>
              </a:rPr>
              <a:t>200,000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069080"/>
            <a:ext cx="2514600" cy="123444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42702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3A1B5"/>
                </a:solidFill>
                <a:latin typeface="Arial"/>
              </a:rPr>
              <a:t>DIMENSIONS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59943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Arial"/>
              </a:rPr>
              <a:t>256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069080"/>
            <a:ext cx="2514600" cy="123444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702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3A1B5"/>
                </a:solidFill>
                <a:latin typeface="Arial"/>
              </a:rPr>
              <a:t>THROUGHPUT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9943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Arial"/>
              </a:rPr>
              <a:t>200 QPS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4069080"/>
            <a:ext cx="2514600" cy="123444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42702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3A1B5"/>
                </a:solidFill>
                <a:latin typeface="Arial"/>
              </a:rPr>
              <a:t>RAW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459943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B454"/>
                </a:solidFill>
                <a:latin typeface="Arial"/>
              </a:rPr>
              <a:t>205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93A1B5"/>
                </a:solidFill>
                <a:latin typeface="Arial"/>
              </a:rPr>
              <a:t>Remember 205 MB — in about twenty-five minutes I'm going to make it six.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One piece of vocabulary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8988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313432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2194560"/>
            <a:ext cx="102595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Three distance metrics you'll see: Euclidean, dot product, cosine.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268065"/>
            <a:ext cx="118872" cy="118872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149193"/>
            <a:ext cx="102595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ADE80"/>
                </a:solidFill>
                <a:latin typeface="Arial"/>
              </a:rPr>
              <a:t>If you normalize vectors to length 1 at write time, all three rank IDENTICALLY.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4222699"/>
            <a:ext cx="118872" cy="118872"/>
          </a:xfrm>
          <a:prstGeom prst="ellipse">
            <a:avLst/>
          </a:prstGeom>
          <a:solidFill>
            <a:srgbClr val="93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4103827"/>
            <a:ext cx="102595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3A1B5"/>
                </a:solidFill>
                <a:latin typeface="Arial"/>
              </a:rPr>
              <a:t>So normalize once, then stop thinking about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2194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800" b="1" i="0">
                <a:solidFill>
                  <a:srgbClr val="4DA3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33172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E8EDF5"/>
                </a:solidFill>
                <a:latin typeface="Arial"/>
              </a:rPr>
              <a:t>Exact kNN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3240" y="3611880"/>
            <a:ext cx="2011680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3931920"/>
            <a:ext cx="8138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93A1B5"/>
                </a:solidFill>
                <a:latin typeface="Arial"/>
              </a:rPr>
              <a:t>Compare the query to every vector. Keep the best k.</a:t>
            </a:r>
          </a:p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93A1B5"/>
                </a:solidFill>
                <a:latin typeface="Arial"/>
              </a:rPr>
              <a:t>It's a full scan with a heap — and it's better than you think.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1 · EXACT KNN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The entire search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0332720" cy="1444752"/>
          </a:xfrm>
          <a:prstGeom prst="roundRect">
            <a:avLst/>
          </a:prstGeom>
          <a:solidFill>
            <a:srgbClr val="0B0E1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240280"/>
            <a:ext cx="9692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8EDF5"/>
                </a:solidFill>
                <a:latin typeface="Courier New"/>
              </a:rPr>
              <a:t>scores = tickets @ query                 # cosine sim to every ticket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69464"/>
            <a:ext cx="9692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8EDF5"/>
                </a:solidFill>
                <a:latin typeface="Courier New"/>
              </a:rPr>
              <a:t>top    = np.argpartition(-scores, k)[:k] # k best, unordered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98648"/>
            <a:ext cx="9692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8EDF5"/>
                </a:solidFill>
                <a:latin typeface="Courier New"/>
              </a:rPr>
              <a:t>return top[np.argsort(-scores[top])]     # order just those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B454"/>
                </a:solidFill>
                <a:latin typeface="Arial"/>
              </a:rPr>
              <a:t>If your team is standing up a vector database for 50,000 rows —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B454"/>
                </a:solidFill>
                <a:latin typeface="Arial"/>
              </a:rPr>
              <a:t>this slide is the whole talk.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1 · EXACT KNN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What exact kNN buys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120640" cy="356616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VALUE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8EDF5"/>
                </a:solidFill>
                <a:latin typeface="Arial"/>
              </a:rPr>
              <a:t>Simplest thing</a:t>
            </a:r>
          </a:p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8EDF5"/>
                </a:solidFill>
                <a:latin typeface="Arial"/>
              </a:rPr>
              <a:t>that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01568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93A1B5"/>
                </a:solidFill>
                <a:latin typeface="Arial"/>
              </a:rPr>
              <a:t>No index. No training. No tuning.</a:t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93A1B5"/>
                </a:solidFill>
                <a:latin typeface="Arial"/>
              </a:rPr>
              <a:t>No new service.</a:t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93A1B5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93A1B5"/>
                </a:solidFill>
                <a:latin typeface="Arial"/>
              </a:rPr>
              <a:t>Adding a vector is append().</a:t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93A1B5"/>
                </a:solidFill>
                <a:latin typeface="Arial"/>
              </a:rPr>
              <a:t>Deleting is a mask.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120640" cy="356616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454"/>
                </a:solidFill>
                <a:latin typeface="Arial"/>
              </a:rPr>
              <a:t>VALUE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8EDF5"/>
                </a:solidFill>
                <a:latin typeface="Arial"/>
              </a:rPr>
              <a:t>It is your ruler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01568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93A1B5"/>
                </a:solidFill>
                <a:latin typeface="Arial"/>
              </a:rPr>
              <a:t>Every approximate method is</a:t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93A1B5"/>
                </a:solidFill>
                <a:latin typeface="Arial"/>
              </a:rPr>
              <a:t>scored against it.</a:t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93A1B5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93A1B5"/>
                </a:solidFill>
                <a:latin typeface="Arial"/>
              </a:rPr>
              <a:t>Run it once on 1,000 queries —</a:t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93A1B5"/>
                </a:solidFill>
                <a:latin typeface="Arial"/>
              </a:rPr>
              <a:t>that cached file is your only alarm.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4ADE80"/>
                </a:solidFill>
                <a:latin typeface="Arial"/>
              </a:rPr>
              <a:t>You keep exact search in your stack forever — even after you stop serving from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1 · EXACT KNN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So where does it fall over?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607040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0" b="1" i="0">
                <a:solidFill>
                  <a:srgbClr val="FFB454"/>
                </a:solidFill>
                <a:latin typeface="Arial"/>
              </a:rPr>
              <a:t>4.0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039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8EDF5"/>
                </a:solidFill>
                <a:latin typeface="Arial"/>
              </a:rPr>
              <a:t>per query, on 200,000 tickets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70832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93A1B5"/>
                </a:solidFill>
                <a:latin typeface="Arial"/>
              </a:rPr>
              <a:t>= 0.8 of a CPU core to sustain 200 QPS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4ADE80"/>
                </a:solidFill>
                <a:latin typeface="Arial"/>
              </a:rPr>
              <a:t>…which is completely fine. Nothing is wrong.</a:t>
            </a:r>
          </a:p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4ADE80"/>
                </a:solidFill>
                <a:latin typeface="Arial"/>
              </a:rPr>
              <a:t>At 200,000 vectors you do not need any of the next fifty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1 · EXACT KNN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It doesn't fail. It just gets linearly more expensive.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48840"/>
          <a:ext cx="1060704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377440"/>
                <a:gridCol w="2743200"/>
                <a:gridCol w="274320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93A1B5"/>
                          </a:solidFill>
                          <a:latin typeface="Arial"/>
                        </a:rPr>
                        <a:t>corpus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93A1B5"/>
                          </a:solidFill>
                          <a:latin typeface="Arial"/>
                        </a:rPr>
                        <a:t>per query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93A1B5"/>
                          </a:solidFill>
                          <a:latin typeface="Arial"/>
                        </a:rPr>
                        <a:t>cores @ 200 QPS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93A1B5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E8EDF5"/>
                          </a:solidFill>
                          <a:latin typeface="Arial"/>
                        </a:rPr>
                        <a:t>200,000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>
                          <a:solidFill>
                            <a:srgbClr val="E8EDF5"/>
                          </a:solidFill>
                          <a:latin typeface="Arial"/>
                        </a:rPr>
                        <a:t>4.0 ms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>
                          <a:solidFill>
                            <a:srgbClr val="E8EDF5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>
                          <a:solidFill>
                            <a:srgbClr val="E8EDF5"/>
                          </a:solidFill>
                          <a:latin typeface="Arial"/>
                        </a:rPr>
                        <a:t>fine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E8EDF5"/>
                          </a:solidFill>
                          <a:latin typeface="Arial"/>
                        </a:rPr>
                        <a:t>2,000,000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>
                          <a:solidFill>
                            <a:srgbClr val="E8EDF5"/>
                          </a:solidFill>
                          <a:latin typeface="Arial"/>
                        </a:rPr>
                        <a:t>40 ms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>
                          <a:solidFill>
                            <a:srgbClr val="E8EDF5"/>
                          </a:solidFill>
                          <a:latin typeface="Arial"/>
                        </a:rPr>
                        <a:t>7.9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>
                          <a:solidFill>
                            <a:srgbClr val="E8EDF5"/>
                          </a:solidFill>
                          <a:latin typeface="Arial"/>
                        </a:rPr>
                        <a:t>p99 blown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B454"/>
                          </a:solidFill>
                          <a:latin typeface="Arial"/>
                        </a:rPr>
                        <a:t>20,000,000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1">
                          <a:solidFill>
                            <a:srgbClr val="FFB454"/>
                          </a:solidFill>
                          <a:latin typeface="Arial"/>
                        </a:rPr>
                        <a:t>396 ms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1">
                          <a:solidFill>
                            <a:srgbClr val="FFB454"/>
                          </a:solidFill>
                          <a:latin typeface="Arial"/>
                        </a:rPr>
                        <a:t>79.2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1">
                          <a:solidFill>
                            <a:srgbClr val="FFB454"/>
                          </a:solidFill>
                          <a:latin typeface="Arial"/>
                        </a:rPr>
                        <a:t>a rack of machines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572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B454"/>
                </a:solidFill>
                <a:latin typeface="Arial"/>
              </a:rPr>
              <a:t>Ten times the tickets, ten times the bill. Forever.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206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93A1B5"/>
                </a:solidFill>
                <a:latin typeface="Arial"/>
              </a:rPr>
              <a:t>Seventy cores, burning continuously, to answer a question that ought to fit on a laptop.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1 · EXACT KNN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Isn't this solved? kd-trees, R-trees?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176272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2057400"/>
            <a:ext cx="102595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They genuinely work in 2 or 3 dimensions.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43200"/>
            <a:ext cx="118872" cy="118872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624328"/>
            <a:ext cx="102595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87171"/>
                </a:solidFill>
                <a:latin typeface="Arial"/>
              </a:rPr>
              <a:t>They are useless at 256 — above ~20 dims they degrade to scanning everything, plus overhead.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65245"/>
            <a:ext cx="118872" cy="118872"/>
          </a:xfrm>
          <a:prstGeom prst="ellipse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3446373"/>
            <a:ext cx="102595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B454"/>
                </a:solidFill>
                <a:latin typeface="Arial"/>
              </a:rPr>
              <a:t>THE CURSE OF DIMENSIONALITY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132173"/>
            <a:ext cx="118872" cy="118872"/>
          </a:xfrm>
          <a:prstGeom prst="ellipse">
            <a:avLst/>
          </a:prstGeom>
          <a:solidFill>
            <a:srgbClr val="93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4013301"/>
            <a:ext cx="102595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3A1B5"/>
                </a:solidFill>
                <a:latin typeface="Arial"/>
              </a:rPr>
              <a:t>In high dimensions almost every point sits at almost the same distance from your query.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699101"/>
            <a:ext cx="118872" cy="118872"/>
          </a:xfrm>
          <a:prstGeom prst="ellipse">
            <a:avLst/>
          </a:prstGeom>
          <a:solidFill>
            <a:srgbClr val="93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4580229"/>
            <a:ext cx="102595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3A1B5"/>
                </a:solidFill>
                <a:latin typeface="Arial"/>
              </a:rPr>
              <a:t>Distances bunch up — and if everything is equidistant, there is no region to prune.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ADE80"/>
                </a:solidFill>
                <a:latin typeface="Arial"/>
              </a:rPr>
              <a:t>There is no exact escape hatch. That's not a gap in the literature —</a:t>
            </a:r>
          </a:p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4ADE80"/>
                </a:solidFill>
                <a:latin typeface="Arial"/>
              </a:rPr>
              <a:t>it's the reason this entire field exists.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2194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800" b="1" i="0">
                <a:solidFill>
                  <a:srgbClr val="4DA3FF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33172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E8EDF5"/>
                </a:solidFill>
                <a:latin typeface="Arial"/>
              </a:rPr>
              <a:t>ANN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3240" y="3611880"/>
            <a:ext cx="2011680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3931920"/>
            <a:ext cx="8138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93A1B5"/>
                </a:solidFill>
                <a:latin typeface="Arial"/>
              </a:rPr>
              <a:t>Trade a little correctness for a lot of speed.</a:t>
            </a:r>
          </a:p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93A1B5"/>
                </a:solidFill>
                <a:latin typeface="Arial"/>
              </a:rPr>
              <a:t>Then measure exactly how much you traded.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2 · 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recall@k — the one 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10607040" cy="137160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E8EDF5"/>
                </a:solidFill>
                <a:latin typeface="Arial"/>
              </a:rPr>
              <a:t>The fraction of the true top-k that you actually returned.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B454"/>
                </a:solidFill>
                <a:latin typeface="Arial"/>
              </a:rPr>
              <a:t>You asked for 10.  You got 9 of the right ones.  →  recall@10 = 0.90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4462272"/>
            <a:ext cx="118872" cy="118872"/>
          </a:xfrm>
          <a:prstGeom prst="ellipse">
            <a:avLst/>
          </a:prstGeom>
          <a:solidFill>
            <a:srgbClr val="93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4343400"/>
            <a:ext cx="102595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3A1B5"/>
                </a:solidFill>
                <a:latin typeface="Arial"/>
              </a:rPr>
              <a:t>Compute it by running exact search on ~1,000 sampled queries and diffing.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5010912"/>
            <a:ext cx="118872" cy="118872"/>
          </a:xfrm>
          <a:prstGeom prst="ellipse">
            <a:avLst/>
          </a:prstGeom>
          <a:solidFill>
            <a:srgbClr val="93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892040"/>
            <a:ext cx="102595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3A1B5"/>
                </a:solidFill>
                <a:latin typeface="Arial"/>
              </a:rPr>
              <a:t>That cached ground truth is the ruler from section 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2 · 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"Isn't 0.9 just… accepting wrong answers?"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120640" cy="329184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DE80"/>
                </a:solidFill>
                <a:latin typeface="Arial"/>
              </a:rPr>
              <a:t>WHY IT'S 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EDF5"/>
                </a:solidFill>
                <a:latin typeface="Arial"/>
              </a:rPr>
              <a:t>Your embeddings were</a:t>
            </a:r>
          </a:p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EDF5"/>
                </a:solidFill>
                <a:latin typeface="Arial"/>
              </a:rPr>
              <a:t>already approximate.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93008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3A1B5"/>
                </a:solidFill>
                <a:latin typeface="Arial"/>
              </a:rPr>
              <a:t>The true #7 by cosine distance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3A1B5"/>
                </a:solidFill>
                <a:latin typeface="Arial"/>
              </a:rPr>
              <a:t>is not a ground truth about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3A1B5"/>
                </a:solidFill>
                <a:latin typeface="Arial"/>
              </a:rPr>
              <a:t>relevance. It's one model's opinion.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3A1B5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3A1B5"/>
                </a:solidFill>
                <a:latin typeface="Arial"/>
              </a:rPr>
              <a:t>Chasing exact geometry on a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3A1B5"/>
                </a:solidFill>
                <a:latin typeface="Arial"/>
              </a:rPr>
              <a:t>fuzzy measurement is false precision.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120640" cy="329184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87171"/>
                </a:solidFill>
                <a:latin typeface="Arial"/>
              </a:rPr>
              <a:t>WHERE IT ISN'T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EDF5"/>
                </a:solidFill>
                <a:latin typeface="Arial"/>
              </a:rPr>
              <a:t>Dedup and exact</a:t>
            </a:r>
          </a:p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EDF5"/>
                </a:solidFill>
                <a:latin typeface="Arial"/>
              </a:rPr>
              <a:t>retrieval.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93008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3A1B5"/>
                </a:solidFill>
                <a:latin typeface="Arial"/>
              </a:rPr>
              <a:t>There a missed neighbour isn't a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3A1B5"/>
                </a:solidFill>
                <a:latin typeface="Arial"/>
              </a:rPr>
              <a:t>ranking nudge — it's a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3A1B5"/>
                </a:solidFill>
                <a:latin typeface="Arial"/>
              </a:rPr>
              <a:t>correctness bug.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3A1B5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3A1B5"/>
                </a:solidFill>
                <a:latin typeface="Arial"/>
              </a:rPr>
              <a:t>Recall 0.95 means 5% wrong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93A1B5"/>
                </a:solidFill>
                <a:latin typeface="Arial"/>
              </a:rPr>
              <a:t>answers. Different conversation.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B454"/>
                </a:solidFill>
                <a:latin typeface="Arial"/>
              </a:rPr>
              <a:t>First question about any vector search feature: which regime am I in?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2 · 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Three ideas. That's all that's left.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3337560" cy="237744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4DA3FF"/>
                </a:solidFill>
                <a:latin typeface="Arial"/>
              </a:rPr>
              <a:t>Partition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93A1B5"/>
                </a:solidFill>
                <a:latin typeface="Arial"/>
              </a:rPr>
              <a:t>Scan a slice of the data instead of all of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337560" cy="237744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24231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B454"/>
                </a:solidFill>
                <a:latin typeface="Arial"/>
              </a:rPr>
              <a:t>Compress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10896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93A1B5"/>
                </a:solidFill>
                <a:latin typeface="Arial"/>
              </a:rPr>
              <a:t>Make each comparison cheaper.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103120"/>
            <a:ext cx="3337560" cy="237744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4ADE80"/>
                </a:solidFill>
                <a:latin typeface="Arial"/>
              </a:rPr>
              <a:t>Build a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0896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93A1B5"/>
                </a:solidFill>
                <a:latin typeface="Arial"/>
              </a:rPr>
              <a:t>Walk toward the answer in log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E8EDF5"/>
                </a:solidFill>
                <a:latin typeface="Arial"/>
              </a:rPr>
              <a:t>The first two combine — which is why you'll only ever see them written as one word: IVF-PQ.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2194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800" b="1" i="0">
                <a:solidFill>
                  <a:srgbClr val="4DA3FF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33172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E8EDF5"/>
                </a:solidFill>
                <a:latin typeface="Arial"/>
              </a:rPr>
              <a:t>IVF-PQ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3240" y="3611880"/>
            <a:ext cx="2011680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3931920"/>
            <a:ext cx="8138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93A1B5"/>
                </a:solidFill>
                <a:latin typeface="Arial"/>
              </a:rPr>
              <a:t>Two independent ideas bolted together.</a:t>
            </a:r>
          </a:p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93A1B5"/>
                </a:solidFill>
                <a:latin typeface="Arial"/>
              </a:rPr>
              <a:t>IVF partitions (buys time) · PQ compresses (buys memory).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PARTITION · BUYS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3a · IVF — Inverted File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105156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FFB454"/>
                </a:solidFill>
                <a:latin typeface="Arial"/>
              </a:rPr>
              <a:t>You don't scan every book in the building. You walk to the right few shelves.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319272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3200400"/>
            <a:ext cx="102595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BUILD  —  k-means the corpus into 512 buckets (Voronoi cells). ~390 tickets each.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977639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3858768"/>
            <a:ext cx="102595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SEARCH  —  compare the query to the 512 centroids only. That's cheap.</a:t>
            </a:r>
          </a:p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Pick the nprobe closest buckets. Brute-force just those.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DE80"/>
                </a:solidFill>
                <a:latin typeface="Arial"/>
              </a:rPr>
              <a:t>Value: you stop looking at data that was never going to win.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3A · IVF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The nprobe sweep — the dial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20240"/>
          <a:ext cx="1060704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2194560"/>
                <a:gridCol w="2194560"/>
                <a:gridCol w="219456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93A1B5"/>
                          </a:solidFill>
                          <a:latin typeface="Arial"/>
                        </a:rPr>
                        <a:t>nprobe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93A1B5"/>
                          </a:solidFill>
                          <a:latin typeface="Arial"/>
                        </a:rPr>
                        <a:t>scanned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93A1B5"/>
                          </a:solidFill>
                          <a:latin typeface="Arial"/>
                        </a:rPr>
                        <a:t>% of corpus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93A1B5"/>
                          </a:solidFill>
                          <a:latin typeface="Arial"/>
                        </a:rPr>
                        <a:t>ms/query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93A1B5"/>
                          </a:solidFill>
                          <a:latin typeface="Arial"/>
                        </a:rPr>
                        <a:t>recall@10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0.2%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0.022 ms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0.592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781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0.4%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0.019 ms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0.817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B454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B454"/>
                          </a:solidFill>
                          <a:latin typeface="Arial"/>
                        </a:rPr>
                        <a:t>1,562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B454"/>
                          </a:solidFill>
                          <a:latin typeface="Arial"/>
                        </a:rPr>
                        <a:t>0.8%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B454"/>
                          </a:solidFill>
                          <a:latin typeface="Arial"/>
                        </a:rPr>
                        <a:t>0.034 ms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B454"/>
                          </a:solidFill>
                          <a:latin typeface="Arial"/>
                        </a:rPr>
                        <a:t>0.958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3,125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1.6%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0.063 ms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6,250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3.1%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0.122 ms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25,000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12.5%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0.603 ms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200,000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3.729 ms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B454"/>
                </a:solidFill>
                <a:latin typeface="Arial"/>
              </a:rPr>
              <a:t>At nprobe=4 we scanned 0.8% of the corpus and got 96% of the right answers — a ~95× speedup for 4 points of recall.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3A · IVF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Recall saturates. Cost doesn't.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vf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7" y="1783080"/>
            <a:ext cx="10607040" cy="3250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B454"/>
                </a:solidFill>
                <a:latin typeface="Arial"/>
              </a:rPr>
              <a:t>1 → 4 probes:  +37 points of recall.        64 → 512 probes:  +0.000, and 3.2 ms slower.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3A · IVF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Where IVF is wrong — and why that's good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oron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137" y="1737360"/>
            <a:ext cx="6043420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93A1B5"/>
                </a:solidFill>
                <a:latin typeface="Arial"/>
              </a:rPr>
              <a:t>The query hugged a boundary. Its true nearest neighbour fell one cell over. nprobe is exactly the fix.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3A · IVF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Where IVF's value runs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130552"/>
            <a:ext cx="118872" cy="118872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2011680"/>
            <a:ext cx="1025956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87171"/>
                </a:solidFill>
                <a:latin typeface="Arial"/>
              </a:rPr>
              <a:t>Memory is completely unchanged — still all 205 MB of full float32 vectors.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60904"/>
            <a:ext cx="118872" cy="118872"/>
          </a:xfrm>
          <a:prstGeom prst="ellipse">
            <a:avLst/>
          </a:prstGeom>
          <a:solidFill>
            <a:srgbClr val="93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542032"/>
            <a:ext cx="1025956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3A1B5"/>
                </a:solidFill>
                <a:latin typeface="Arial"/>
              </a:rPr>
              <a:t>IVF buys TIME, not SPACE. Hold that thought for ninety seconds.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29914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3311042"/>
            <a:ext cx="1025956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It needs training — k-means over a sample before you can insert anything.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198924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4080052"/>
            <a:ext cx="1025956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It drifts. Centroids fitted on last year's tickets go lopsided as topics shift.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29276"/>
            <a:ext cx="118872" cy="118872"/>
          </a:xfrm>
          <a:prstGeom prst="ellipse">
            <a:avLst/>
          </a:prstGeom>
          <a:solidFill>
            <a:srgbClr val="93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4610404"/>
            <a:ext cx="1025956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3A1B5"/>
                </a:solidFill>
                <a:latin typeface="Arial"/>
              </a:rPr>
              <a:t>Retraining is real, scheduled, operational work.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COMPRESS · BUYS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3b · PQ — Product Quantization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105156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B454"/>
                </a:solidFill>
                <a:latin typeface="Arial"/>
              </a:rPr>
              <a:t>Don't store every pixel's exact colour. Store an index into a 256-colour palette.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319272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3200400"/>
            <a:ext cx="102595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SPLIT  —  chop each 256-dim vector into 32 sub-vectors of 8 dims.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977639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3858768"/>
            <a:ext cx="102595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CLUSTER  —  k-means each chunk position independently → 32 codebooks of 256 centroids.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636007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4517136"/>
            <a:ext cx="102595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ENCODE  —  replace each chunk with its nearest centroid id: 0–255. One byte.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492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4ADE80"/>
                </a:solidFill>
                <a:latin typeface="Arial"/>
              </a:rPr>
              <a:t>1,024 bytes  →  32 bytes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3B · PQ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A ticket, before and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10607040" cy="123444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2140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3A1B5"/>
                </a:solidFill>
                <a:latin typeface="Arial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8716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E8EDF5"/>
                </a:solidFill>
                <a:latin typeface="Courier New"/>
              </a:rPr>
              <a:t>[-0.0872  0.0147  0.0100  -0.0640  -0.0553  … ]   256 floats  =  1,024 bytes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337560"/>
            <a:ext cx="10607040" cy="123444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387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DE80"/>
                </a:solidFill>
                <a:latin typeface="Arial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04487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4ADE80"/>
                </a:solidFill>
                <a:latin typeface="Courier New"/>
              </a:rPr>
              <a:t>[125 195 131  51 129  60  73  33 … ]   32 bytes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B454"/>
                </a:solidFill>
                <a:latin typeface="Arial"/>
              </a:rPr>
              <a:t>205 MB  →  6.4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E8EDF5"/>
                </a:solidFill>
                <a:latin typeface="Arial"/>
              </a:rPr>
              <a:t>32× smaller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3B · PQ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PQ's value is a DEPLOYMENT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03120"/>
          <a:ext cx="1060704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737360"/>
                <a:gridCol w="1645920"/>
                <a:gridCol w="49377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93A1B5"/>
                          </a:solidFill>
                          <a:latin typeface="Arial"/>
                        </a:rPr>
                        <a:t>corpus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93A1B5"/>
                          </a:solidFill>
                          <a:latin typeface="Arial"/>
                        </a:rPr>
                        <a:t>raw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93A1B5"/>
                          </a:solidFill>
                          <a:latin typeface="Arial"/>
                        </a:rPr>
                        <a:t>with PQ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93A1B5"/>
                          </a:solidFill>
                          <a:latin typeface="Arial"/>
                        </a:rPr>
                        <a:t>what changes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200,000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0.20 GB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0.01 GB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fits inside your app process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2,000,000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2.0 GB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0.06 GB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growth stopped being an infra project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100,000,000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102 GB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3.2 GB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5"/>
                          </a:solidFill>
                          <a:latin typeface="Arial"/>
                        </a:rPr>
                        <a:t>one big machine, not a cluster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B454"/>
                          </a:solidFill>
                          <a:latin typeface="Arial"/>
                        </a:rPr>
                        <a:t>1,000,000,000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B454"/>
                          </a:solidFill>
                          <a:latin typeface="Arial"/>
                        </a:rPr>
                        <a:t>1,024 GB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B454"/>
                          </a:solidFill>
                          <a:latin typeface="Arial"/>
                        </a:rPr>
                        <a:t>32 GB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B454"/>
                          </a:solidFill>
                          <a:latin typeface="Arial"/>
                        </a:rPr>
                        <a:t>billion-scale on a single host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0292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454"/>
                </a:solidFill>
                <a:latin typeface="Arial"/>
              </a:rPr>
              <a:t>The top row deletes a service from your architecture diagram. The bottom row is why PQ exists.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3B · PQ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But the compression dial has a CLIFF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48840"/>
          <a:ext cx="932688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560320"/>
                <a:gridCol w="2560320"/>
                <a:gridCol w="256032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93A1B5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93A1B5"/>
                          </a:solidFill>
                          <a:latin typeface="Arial"/>
                        </a:rPr>
                        <a:t>bytes/vector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93A1B5"/>
                          </a:solidFill>
                          <a:latin typeface="Arial"/>
                        </a:rPr>
                        <a:t>compression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93A1B5"/>
                          </a:solidFill>
                          <a:latin typeface="Arial"/>
                        </a:rPr>
                        <a:t>recall@10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64×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0.156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B454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FFB454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FFB454"/>
                          </a:solidFill>
                          <a:latin typeface="Arial"/>
                        </a:rPr>
                        <a:t>32×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FFB454"/>
                          </a:solidFill>
                          <a:latin typeface="Arial"/>
                        </a:rPr>
                        <a:t>0.388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16×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0.632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8×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0.870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8920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87171"/>
                </a:solidFill>
                <a:latin typeface="Arial"/>
              </a:rPr>
              <a:t>PQ alone is not a search index. It's a SHORTLISTING index.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93A1B5"/>
                </a:solidFill>
                <a:latin typeface="Arial"/>
              </a:rPr>
              <a:t>Hold that for five minutes — three lines of code fix almost all of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3B · PQ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The clever part: you never decompress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93391"/>
            <a:ext cx="118872" cy="118872"/>
          </a:xfrm>
          <a:prstGeom prst="ellipse">
            <a:avLst/>
          </a:prstGeom>
          <a:solidFill>
            <a:srgbClr val="93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874519"/>
            <a:ext cx="102595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3A1B5"/>
                </a:solidFill>
                <a:latin typeface="Arial"/>
              </a:rPr>
              <a:t>Squared distance is SEPARABLE — the distance between two vectors is just the sum</a:t>
            </a:r>
          </a:p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3A1B5"/>
                </a:solidFill>
                <a:latin typeface="Arial"/>
              </a:rPr>
              <a:t>of the distances between their chunks. That's not a trick, it's arithmetic.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10607040" cy="137160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27248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8EDF5"/>
                </a:solidFill>
                <a:latin typeface="Arial"/>
              </a:rPr>
              <a:t>Precompute one lookup table per query: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8EDF5"/>
                </a:solidFill>
                <a:latin typeface="Arial"/>
              </a:rPr>
              <a:t>distance from each query chunk to each of its 256 centroids.  →  32 × 256 = 8,192 tiny computations,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4ADE80"/>
                </a:solidFill>
                <a:latin typeface="Arial"/>
              </a:rPr>
              <a:t>Then the distance to ANY ticket = 32 table lookups + 32 adds.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B5"/>
                </a:solidFill>
                <a:latin typeface="Arial"/>
              </a:rPr>
              <a:t>No multiplications. No 256-dimensional math. The same 32 bytes that saved memory</a:t>
            </a:r>
          </a:p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93A1B5"/>
                </a:solidFill>
                <a:latin typeface="Arial"/>
              </a:rPr>
              <a:t>made the comparison cheaper too — compression and speed usually trade against each other.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3B · PQ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Right on average. Noisy where it matters.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q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210" y="1737360"/>
            <a:ext cx="4581274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93A1B5"/>
                </a:solidFill>
                <a:latin typeface="Arial"/>
              </a:rPr>
              <a:t>The scatter around the line is the recall loss. The top-10 live in the bottom-left — exactly where the noise bites.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PARTITION + COMPRESS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3c · IVF-PQ, combined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105156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B454"/>
                </a:solidFill>
                <a:latin typeface="Arial"/>
              </a:rPr>
              <a:t>"Go to the right shelves — and read compressed summaries once you're there."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3337560" cy="160020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3A1B5"/>
                </a:solidFill>
                <a:latin typeface="Arial"/>
              </a:rPr>
              <a:t>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DE80"/>
                </a:solidFill>
                <a:latin typeface="Arial"/>
              </a:rPr>
              <a:t>0.093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246120"/>
            <a:ext cx="3337560" cy="160020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3474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3A1B5"/>
                </a:solidFill>
                <a:latin typeface="Arial"/>
              </a:rP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38404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4ADE80"/>
                </a:solidFill>
                <a:latin typeface="Arial"/>
              </a:rPr>
              <a:t>6.4 MB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246120"/>
            <a:ext cx="3337560" cy="160020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474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3A1B5"/>
                </a:solidFill>
                <a:latin typeface="Arial"/>
              </a:rPr>
              <a:t>RECALL@10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8404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87171"/>
                </a:solidFill>
                <a:latin typeface="Arial"/>
              </a:rPr>
              <a:t>0.485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E8EDF5"/>
                </a:solidFill>
                <a:latin typeface="Arial"/>
              </a:rPr>
              <a:t>So we're fast, we're small, and we're wrong. Let's fix the wrong part.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3C · IVF-PQ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Rerank — three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10332720" cy="1444752"/>
          </a:xfrm>
          <a:prstGeom prst="roundRect">
            <a:avLst/>
          </a:prstGeom>
          <a:solidFill>
            <a:srgbClr val="0B0E1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94560"/>
            <a:ext cx="9692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E8EDF5"/>
                </a:solidFill>
                <a:latin typeface="Courier New"/>
              </a:rPr>
              <a:t>_, candidates = ivfpq.search(Q, 100)    # cheap, approximate shortlist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23744"/>
            <a:ext cx="9692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E8EDF5"/>
                </a:solidFill>
                <a:latin typeface="Courier New"/>
              </a:rPr>
              <a:t>exact = tickets[candidates] @ query     # exact, on 100 vectors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52927"/>
            <a:ext cx="9692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E8EDF5"/>
                </a:solidFill>
                <a:latin typeface="Courier New"/>
              </a:rPr>
              <a:t>return candidates[argsort(-exact)[:10]] # true top-10 of the shortlist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93A1B5"/>
                </a:solidFill>
                <a:latin typeface="Arial"/>
              </a:rPr>
              <a:t>100 exact distance computations is nothing.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871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 i="0">
                <a:solidFill>
                  <a:srgbClr val="4ADE80"/>
                </a:solidFill>
                <a:latin typeface="Arial"/>
              </a:rPr>
              <a:t>0.485  →  0.971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882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8EDF5"/>
                </a:solidFill>
                <a:latin typeface="Arial"/>
              </a:rPr>
              <a:t>recall@10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5208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93A1B5"/>
                </a:solidFill>
                <a:latin typeface="Arial"/>
              </a:rPr>
              <a:t>for +35 microseconds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3C · IVF-PQ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The highest payoff in the whole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03120"/>
          <a:ext cx="1024128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468880"/>
                <a:gridCol w="256032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93A1B5"/>
                          </a:solidFill>
                          <a:latin typeface="Arial"/>
                        </a:rPr>
                        <a:t>candidates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93A1B5"/>
                          </a:solidFill>
                          <a:latin typeface="Arial"/>
                        </a:rPr>
                        <a:t>ms/query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93A1B5"/>
                          </a:solidFill>
                          <a:latin typeface="Arial"/>
                        </a:rPr>
                        <a:t>recall@10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93A1B5"/>
                          </a:solidFill>
                          <a:latin typeface="Arial"/>
                        </a:rPr>
                        <a:t>gain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— (no rerank)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0.093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0.485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0.100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0.691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+0.206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0.112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0.903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+0.418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B454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FFB454"/>
                          </a:solidFill>
                          <a:latin typeface="Arial"/>
                        </a:rPr>
                        <a:t>0.127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FFB454"/>
                          </a:solidFill>
                          <a:latin typeface="Arial"/>
                        </a:rPr>
                        <a:t>0.971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FFB454"/>
                          </a:solidFill>
                          <a:latin typeface="Arial"/>
                        </a:rPr>
                        <a:t>+0.486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0.161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0.996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+0.512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FB454"/>
                </a:solidFill>
                <a:latin typeface="Arial"/>
              </a:rPr>
              <a:t>Every few months a team concludes “we tried PQ, quality was terrible.”</a:t>
            </a:r>
          </a:p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FB454"/>
                </a:solidFill>
                <a:latin typeface="Arial"/>
              </a:rPr>
              <a:t>What they shipped was a shortlisting index without the second stage.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3C · IVF-PQ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The honest catch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10607040" cy="91440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2140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87171"/>
                </a:solidFill>
                <a:latin typeface="Arial"/>
              </a:rPr>
              <a:t>Reranking needs the full vectors — which you just spent a section compressing away.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63240"/>
            <a:ext cx="10607040" cy="109728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DE80"/>
                </a:solidFill>
                <a:latin typeface="Arial"/>
              </a:rPr>
              <a:t>On SSD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42900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E8EDF5"/>
                </a:solidFill>
                <a:latin typeface="Arial"/>
              </a:rPr>
              <a:t>~100 vectors per query, a few hundred KB. Keeps the memory win. Usually right.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43400"/>
            <a:ext cx="10607040" cy="109728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B454"/>
                </a:solidFill>
                <a:latin typeface="Arial"/>
              </a:rPr>
              <a:t>In 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E8EDF5"/>
                </a:solidFill>
                <a:latin typeface="Arial"/>
              </a:rPr>
              <a:t>Fastest — but you just gave back the entire 32× saving. Sometimes correct; know you did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93A1B5"/>
                </a:solidFill>
                <a:latin typeface="Arial"/>
              </a:rPr>
              <a:t>In practice it's SSD, and you keep the 32× win that made you choose IVF-PQ in the first place.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2194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800" b="1" i="0">
                <a:solidFill>
                  <a:srgbClr val="4DA3FF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33172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E8EDF5"/>
                </a:solidFill>
                <a:latin typeface="Arial"/>
              </a:rPr>
              <a:t>HNSW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3240" y="3611880"/>
            <a:ext cx="2011680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3931920"/>
            <a:ext cx="8138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93A1B5"/>
                </a:solidFill>
                <a:latin typeface="Arial"/>
              </a:rPr>
              <a:t>Hierarchical Navigable Small World.</a:t>
            </a:r>
          </a:p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93A1B5"/>
                </a:solidFill>
                <a:latin typeface="Arial"/>
              </a:rPr>
              <a:t>Don't partition. Don't compress. Build a graph and walk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4 · HNSW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Flight → train → walk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118872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84831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 i="0">
                <a:solidFill>
                  <a:srgbClr val="FFB454"/>
                </a:solidFill>
                <a:latin typeface="Arial"/>
              </a:rPr>
              <a:t>You're in a small town in Japan and need a café in Osaka.</a:t>
            </a:r>
          </a:p>
          <a:p>
            <a:pPr algn="ctr">
              <a:lnSpc>
                <a:spcPct val="125000"/>
              </a:lnSpc>
            </a:pPr>
            <a:r>
              <a:rPr sz="2100" b="1" i="0">
                <a:solidFill>
                  <a:srgbClr val="FFB454"/>
                </a:solidFill>
                <a:latin typeface="Arial"/>
              </a:rPr>
              <a:t>You don't consult a street map of the entire country.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337560"/>
            <a:ext cx="10332720" cy="1444752"/>
          </a:xfrm>
          <a:prstGeom prst="roundRect">
            <a:avLst/>
          </a:prstGeom>
          <a:solidFill>
            <a:srgbClr val="0B0E1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566160"/>
            <a:ext cx="9692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E8EDF5"/>
                </a:solidFill>
                <a:latin typeface="Courier New"/>
              </a:rPr>
              <a:t>L2:   A ------------------------ Z      few nodes, long hops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895344"/>
            <a:ext cx="9692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E8EDF5"/>
                </a:solidFill>
                <a:latin typeface="Courier New"/>
              </a:rPr>
              <a:t>L1:   A ------- M -------------- 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24528"/>
            <a:ext cx="9692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E8EDF5"/>
                </a:solidFill>
                <a:latin typeface="Courier New"/>
              </a:rPr>
              <a:t>L0:   A - c - f - M - p - t - w - Z     EVERY node, short hops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93A1B5"/>
                </a:solidFill>
                <a:latin typeface="Arial"/>
              </a:rPr>
              <a:t>If you know skip lists: it's a skip list where the base layer is a proximity graph.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778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4ADE80"/>
                </a:solidFill>
                <a:latin typeface="Arial"/>
              </a:rPr>
              <a:t>Roughly O(log N) hops.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4 · HNSW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The search, in one breath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267712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2148840"/>
            <a:ext cx="102595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Start at the entry point in the top layer.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26080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807208"/>
            <a:ext cx="102595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Greedily walk to whichever neighbour is closer to the query.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84448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3465576"/>
            <a:ext cx="102595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When no neighbour improves — drop down a layer. Repeat.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42816"/>
            <a:ext cx="118872" cy="118872"/>
          </a:xfrm>
          <a:prstGeom prst="ellipse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4123944"/>
            <a:ext cx="102595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B454"/>
                </a:solidFill>
                <a:latin typeface="Arial"/>
              </a:rPr>
              <a:t>At layer 0, keep a candidate list of size efSearch instead of just the best.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92040"/>
            <a:ext cx="10607040" cy="105156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138928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ADE80"/>
                </a:solidFill>
                <a:latin typeface="Arial"/>
              </a:rPr>
              <a:t>Every node lives at layer 0. Upper layers are a routing shortcut, not a filter.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4 · HNSW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The actual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nsw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00" y="1920240"/>
            <a:ext cx="10097493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3949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93A1B5"/>
                </a:solidFill>
                <a:latin typeface="Arial"/>
              </a:rPr>
              <a:t>Read right to left — the way a search runs. Sparse express lanes on top, every node at the bottom.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B6678"/>
                </a:solidFill>
                <a:latin typeface="Arial"/>
              </a:rPr>
              <a:t>levels: 433 nodes stop at layer 0  ·  62 reach layer 1  ·  5 reach layer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4 · HNSW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One index, three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03120"/>
          <a:ext cx="1069848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103120"/>
                <a:gridCol w="2194560"/>
                <a:gridCol w="457200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93A1B5"/>
                          </a:solidFill>
                          <a:latin typeface="Arial"/>
                        </a:rPr>
                        <a:t>efSearch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93A1B5"/>
                          </a:solidFill>
                          <a:latin typeface="Arial"/>
                        </a:rPr>
                        <a:t>ms/query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93A1B5"/>
                          </a:solidFill>
                          <a:latin typeface="Arial"/>
                        </a:rPr>
                        <a:t>recall@10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93A1B5"/>
                          </a:solidFill>
                          <a:latin typeface="Arial"/>
                        </a:rPr>
                        <a:t>plausible use case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0.033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0.749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type-ahead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0.091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0.963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standard search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0.147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0.988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0.238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0.998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RAG / agent context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0.448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8EDF5"/>
                          </a:solidFill>
                          <a:latin typeface="Arial"/>
                        </a:rPr>
                        <a:t>offline eval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1206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4ADE80"/>
                </a:solidFill>
                <a:latin typeface="Arial"/>
              </a:rPr>
              <a:t>Same index. Same box. No rebuild. It's a per-request parameter.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93A1B5"/>
                </a:solidFill>
                <a:latin typeface="Arial"/>
              </a:rPr>
              <a:t>IVF's nprobe gives you the same freedom. Most teams leave this capability on the floor.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4 · HNSW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O(log N) vs O(N) — the shape is the argument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385" y="1783080"/>
            <a:ext cx="5518924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FB454"/>
                </a:solidFill>
                <a:latin typeface="Arial"/>
              </a:rPr>
              <a:t>Corpus grew 16×   →   exact got 22.0× slower,   HNSW got 3.6× slower.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807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3A1B5"/>
                </a:solidFill>
                <a:latin typeface="Arial"/>
              </a:rPr>
              <a:t>And at 12,500 vectors HNSW is only 3× faster — the data agrees: at small N, don't bother.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4 · HNSW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Where HNSW's value runs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084831"/>
            <a:ext cx="118872" cy="118872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965960"/>
            <a:ext cx="10259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87171"/>
                </a:solidFill>
                <a:latin typeface="Arial"/>
              </a:rPr>
              <a:t>MEMORY — stores full vectors PLUS the graph: 230 MB vs IVF-PQ's 6.4 MB.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587752"/>
            <a:ext cx="118872" cy="118872"/>
          </a:xfrm>
          <a:prstGeom prst="ellipse">
            <a:avLst/>
          </a:prstGeom>
          <a:solidFill>
            <a:srgbClr val="93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468880"/>
            <a:ext cx="10259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3A1B5"/>
                </a:solidFill>
                <a:latin typeface="Arial"/>
              </a:rPr>
              <a:t>That's 36× more memory.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316986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3198114"/>
            <a:ext cx="10259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DELETES are genuinely awkward — you can't cut a node without risking disconnection.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819906"/>
            <a:ext cx="118872" cy="118872"/>
          </a:xfrm>
          <a:prstGeom prst="ellipse">
            <a:avLst/>
          </a:prstGeom>
          <a:solidFill>
            <a:srgbClr val="93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3701034"/>
            <a:ext cx="10259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3A1B5"/>
                </a:solidFill>
                <a:latin typeface="Arial"/>
              </a:rPr>
              <a:t>Tombstone and rebuild. For high-churn data that's a real operational cost.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549140"/>
            <a:ext cx="118872" cy="11887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4430268"/>
            <a:ext cx="102595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BUILD TIME — 8s for 200k here. At 10M it's hours.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486400"/>
            <a:ext cx="10607040" cy="91440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733288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4ADE80"/>
                </a:solidFill>
                <a:latin typeface="Arial"/>
              </a:rPr>
              <a:t>HNSW buys speed with RAM.   IVF-PQ buys RAM with accuracy.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2194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800" b="1" i="0">
                <a:solidFill>
                  <a:srgbClr val="4DA3FF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33172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E8EDF5"/>
                </a:solidFill>
                <a:latin typeface="Arial"/>
              </a:rPr>
              <a:t>The ledger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3240" y="3611880"/>
            <a:ext cx="2011680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3931920"/>
            <a:ext cx="8138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93A1B5"/>
                </a:solidFill>
                <a:latin typeface="Arial"/>
              </a:rPr>
              <a:t>Everything measured, on one problem, on one machine.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5 · SCOREBOARD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The value ledger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057400"/>
          <a:ext cx="106070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371600"/>
                <a:gridCol w="1188720"/>
                <a:gridCol w="1371600"/>
                <a:gridCol w="1188720"/>
                <a:gridCol w="30175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93A1B5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93A1B5"/>
                          </a:solidFill>
                          <a:latin typeface="Arial"/>
                        </a:rPr>
                        <a:t>ms/query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93A1B5"/>
                          </a:solidFill>
                          <a:latin typeface="Arial"/>
                        </a:rPr>
                        <a:t>speedup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93A1B5"/>
                          </a:solidFill>
                          <a:latin typeface="Arial"/>
                        </a:rPr>
                        <a:t>memory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93A1B5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93A1B5"/>
                          </a:solidFill>
                          <a:latin typeface="Arial"/>
                        </a:rPr>
                        <a:t>what it bought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Exact (numpy)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3.959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1×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205 MB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correctness + ground truth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+ IVF (nprobe=16)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0.122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32×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205 MB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32× less data scanned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+ PQ (IVF-PQ)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0.093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43×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6.4 MB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0.485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32× less memory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+ rerank (top-100)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0.127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31×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6.4 MB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0.971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recall bought back, ~free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HNSW (ef=100)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0.147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27×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230 MB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0.988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8EDF5"/>
                          </a:solidFill>
                          <a:latin typeface="Arial"/>
                        </a:rPr>
                        <a:t>best recall/latency — for RAM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FFB454"/>
                </a:solidFill>
                <a:latin typeface="Arial"/>
              </a:rPr>
              <a:t>The bottom two rows are the same speed and nearly the same quality —</a:t>
            </a:r>
          </a:p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FFB454"/>
                </a:solidFill>
                <a:latin typeface="Arial"/>
              </a:rPr>
              <a:t>and one of them uses 36× less memory. That's your decision.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5 · SCOREBOARD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The only chart that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call_q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085" y="1737360"/>
            <a:ext cx="6169524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93A1B5"/>
                </a:solidFill>
                <a:latin typeface="Arial"/>
              </a:rPr>
              <a:t>Every technique in this talk was a way to push a point up and to the right.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5 · SCOREBOARD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How to choose — read straight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10607040" cy="86868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21991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ADE80"/>
                </a:solidFill>
                <a:latin typeface="Arial"/>
              </a:rPr>
              <a:t>Under 100,000 vectors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40279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8EDF5"/>
                </a:solidFill>
                <a:latin typeface="Arial"/>
              </a:rPr>
              <a:t>Brute force. Three lines of numpy. Don't add an index.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53512"/>
            <a:ext cx="10607040" cy="86868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0954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DA3FF"/>
                </a:solidFill>
                <a:latin typeface="Arial"/>
              </a:rPr>
              <a:t>Fits in RAM, want best quality/latency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227832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8EDF5"/>
                </a:solidFill>
                <a:latin typeface="Arial"/>
              </a:rPr>
              <a:t>HNSW. The default in every major system for a reason.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41064"/>
            <a:ext cx="10607040" cy="86868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9709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B454"/>
                </a:solidFill>
                <a:latin typeface="Arial"/>
              </a:rPr>
              <a:t>RAM is your constraint, or past ~100M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21538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8EDF5"/>
                </a:solidFill>
                <a:latin typeface="Arial"/>
              </a:rPr>
              <a:t>IVF-PQ, with reranking. Non-negotiable on the reranking.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928616"/>
            <a:ext cx="10607040" cy="86868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18464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93A1B5"/>
                </a:solidFill>
                <a:latin typeface="Arial"/>
              </a:rPr>
              <a:t>Always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202936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8EDF5"/>
                </a:solidFill>
                <a:latin typeface="Arial"/>
              </a:rPr>
              <a:t>Keep exact search around as the ruler.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436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93A1B5"/>
                </a:solidFill>
                <a:latin typeface="Arial"/>
              </a:rPr>
              <a:t>Two indexes. Pick by which resource you're short of.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93A1B5"/>
                </a:solidFill>
                <a:latin typeface="Arial"/>
              </a:rPr>
              <a:t>And if you're already on Postgres — pgvector gives you HNSW in the database you already run.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2194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800" b="1" i="0">
                <a:solidFill>
                  <a:srgbClr val="4DA3FF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33172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E8EDF5"/>
                </a:solidFill>
                <a:latin typeface="Arial"/>
              </a:rPr>
              <a:t>The gotcha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3240" y="3611880"/>
            <a:ext cx="2011680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3931920"/>
            <a:ext cx="8138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93A1B5"/>
                </a:solidFill>
                <a:latin typeface="Arial"/>
              </a:rPr>
              <a:t>Everything so far assumed the query is JUST a vector.</a:t>
            </a:r>
          </a:p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93A1B5"/>
                </a:solidFill>
                <a:latin typeface="Arial"/>
              </a:rPr>
              <a:t>It never is.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6 ·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Real queries are never just a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10607040" cy="105156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B454"/>
                </a:solidFill>
                <a:latin typeface="Courier New"/>
              </a:rPr>
              <a:t>Nearest neighbours WHERE tenant_id = 47 AND status = 'open' AND created_at &gt; monday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The naive approach — POST-FILTERING: run normal ANN search, then drop the results</a:t>
            </a:r>
          </a:p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E8EDF5"/>
                </a:solidFill>
                <a:latin typeface="Arial"/>
              </a:rPr>
              <a:t>that fail the predicate. Watch what happens when the predicate is selective.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F87171"/>
                </a:solidFill>
                <a:latin typeface="Arial"/>
              </a:rPr>
              <a:t>0.18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5663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8EDF5"/>
                </a:solidFill>
                <a:latin typeface="Arial"/>
              </a:rPr>
              <a:t>results returned, on average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23559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93A1B5"/>
                </a:solidFill>
                <a:latin typeface="Arial"/>
              </a:rPr>
              <a:t>84% of queries returned ZERO results — with 3,937 matching tickets in the corpus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A3FF"/>
                </a:solidFill>
                <a:latin typeface="Arial"/>
              </a:rPr>
              <a:t>6 ·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Push the predicate INTO the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94560"/>
          <a:ext cx="10607040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66560"/>
                <a:gridCol w="384048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93A1B5"/>
                          </a:solidFill>
                          <a:latin typeface="Arial"/>
                        </a:rPr>
                        <a:t>strategy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93A1B5"/>
                          </a:solidFill>
                          <a:latin typeface="Arial"/>
                        </a:rPr>
                        <a:t>avg results out of 10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87171"/>
                          </a:solidFill>
                          <a:latin typeface="Arial"/>
                        </a:rPr>
                        <a:t>post-filter (search, then drop)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F87171"/>
                          </a:solidFill>
                          <a:latin typeface="Arial"/>
                        </a:rPr>
                        <a:t>0.18</a:t>
                      </a:r>
                    </a:p>
                  </a:txBody>
                  <a:tcPr marL="82296" marR="82296" anchor="ctr">
                    <a:solidFill>
                      <a:srgbClr val="171B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E8EDF5"/>
                          </a:solidFill>
                          <a:latin typeface="Arial"/>
                        </a:rPr>
                        <a:t>IVF + IDSelector (pushed down)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E8EDF5"/>
                          </a:solidFill>
                          <a:latin typeface="Arial"/>
                        </a:rPr>
                        <a:t>10.00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E8EDF5"/>
                          </a:solidFill>
                          <a:latin typeface="Arial"/>
                        </a:rPr>
                        <a:t>HNSW + IDSelector (pushed down)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E8EDF5"/>
                          </a:solidFill>
                          <a:latin typeface="Arial"/>
                        </a:rPr>
                        <a:t>10.00</a:t>
                      </a:r>
                    </a:p>
                  </a:txBody>
                  <a:tcPr marL="82296" marR="82296" anchor="ctr">
                    <a:solidFill>
                      <a:srgbClr val="10131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480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FFB454"/>
                </a:solidFill>
                <a:latin typeface="Arial"/>
              </a:rPr>
              <a:t>Same index. Same query. Same filter.</a:t>
            </a:r>
          </a:p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FFB454"/>
                </a:solidFill>
                <a:latin typeface="Arial"/>
              </a:rPr>
              <a:t>0.18 versus 10 — entirely determined by whether the predicate went in or after.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23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3A1B5"/>
                </a:solidFill>
                <a:latin typeface="Arial"/>
              </a:rPr>
              <a:t>Pre-filtering wins when the filter is very selective · filtered graph traversal degrades when matches are scattered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3A1B5"/>
                </a:solidFill>
                <a:latin typeface="Arial"/>
              </a:rPr>
              <a:t>Every vector database handles this differently — and this, more than raw QPS, should decide which one you pick.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Arial"/>
              </a:rPr>
              <a:t>Three things to leave with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89888"/>
            <a:ext cx="1371600" cy="411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10607040" cy="123444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ADE8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231136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DE80"/>
                </a:solidFill>
                <a:latin typeface="Arial"/>
              </a:rPr>
              <a:t>Check your row count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670048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3A1B5"/>
                </a:solidFill>
                <a:latin typeface="Arial"/>
              </a:rPr>
              <a:t>Under 100k vectors the answer is three lines of numpy. Not a vector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383280"/>
            <a:ext cx="10607040" cy="123444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7033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B454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602736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B454"/>
                </a:solidFill>
                <a:latin typeface="Arial"/>
              </a:rPr>
              <a:t>If you use PQ, rerank.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041648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3A1B5"/>
                </a:solidFill>
                <a:latin typeface="Arial"/>
              </a:rPr>
              <a:t>0.485 → 0.971 for 35 microseconds. The cheapest quality win in the field, and routinely missing.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754880"/>
            <a:ext cx="10607040" cy="1234440"/>
          </a:xfrm>
          <a:prstGeom prst="roundRect">
            <a:avLst/>
          </a:prstGeom>
          <a:solidFill>
            <a:srgbClr val="171B24"/>
          </a:solidFill>
          <a:ln w="12700">
            <a:solidFill>
              <a:srgbClr val="2B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0749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87171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974336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87171"/>
                </a:solidFill>
                <a:latin typeface="Arial"/>
              </a:rPr>
              <a:t>Recall degrades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5413248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3A1B5"/>
                </a:solidFill>
                <a:latin typeface="Arial"/>
              </a:rPr>
              <a:t>No exception, no alert, no 500 — just quietly worse results. Ship the ground-truth job WITH the index, not after the incident.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E8EDF5"/>
                </a:solidFill>
                <a:latin typeface="Arial"/>
              </a:rPr>
              <a:t>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3520440"/>
            <a:ext cx="2377440" cy="41148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3A1B5"/>
                </a:solidFill>
                <a:latin typeface="Arial"/>
              </a:rPr>
              <a:t>Everything in this deck is measured by: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4DA3FF"/>
                </a:solidFill>
                <a:latin typeface="Courier New"/>
              </a:rPr>
              <a:t>notebooks/talk-vector-search.ipynb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B6678"/>
                </a:solidFill>
                <a:latin typeface="Arial"/>
              </a:rPr>
              <a:t>Runs in ~5 minutes on a free Colab CPU. Change N_TICKETS at the top and every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B6678"/>
                </a:solidFill>
                <a:latin typeface="Arial"/>
              </a:rPr>
              <a:t>table and chart recomputes. There's a “Things to try” section with seven experiments.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